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34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6:54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84 13931,'5105'0'0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7:01.8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17213,'0'2425'0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7:10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345 25 8192,'-4'0'18022,"-5"0"-18022,-5 0 0,-4 0 0,-3 0 0,-6 0 0,-2 0 0,0 0 0,0 0 0,2 0 0,1 0 0,-2 0 0,-1 0 0,4-4 0,7-6 0,6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7:14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14983,'186'2191'0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7:24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15347,'5225'0'0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7:34.2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16467,'5220'0'0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7:41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23114,'69'2260'0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7:45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18378,'5289'0'0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7:50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20937,'23'2237'0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8:29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23305,'70'1492'0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8:35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48 18945,'3333'-47'0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8:38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16228,'47'1631'0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48:57.9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14863,'3357'0'0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FCBC-0AD0-49BB-A562-15CEDFB90396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6BDBA-C811-47F1-AF0B-4AE48585E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88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6BDBA-C811-47F1-AF0B-4AE48585E2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18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0537" y="1433575"/>
            <a:ext cx="11208385" cy="31750"/>
          </a:xfrm>
          <a:custGeom>
            <a:avLst/>
            <a:gdLst/>
            <a:ahLst/>
            <a:cxnLst/>
            <a:rect l="l" t="t" r="r" b="b"/>
            <a:pathLst>
              <a:path w="11208385" h="31750">
                <a:moveTo>
                  <a:pt x="0" y="0"/>
                </a:moveTo>
                <a:lnTo>
                  <a:pt x="11207813" y="3175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0794" y="161925"/>
            <a:ext cx="2727305" cy="1047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0537" y="1281175"/>
            <a:ext cx="11208385" cy="31750"/>
          </a:xfrm>
          <a:custGeom>
            <a:avLst/>
            <a:gdLst/>
            <a:ahLst/>
            <a:cxnLst/>
            <a:rect l="l" t="t" r="r" b="b"/>
            <a:pathLst>
              <a:path w="11208385" h="31750">
                <a:moveTo>
                  <a:pt x="0" y="0"/>
                </a:moveTo>
                <a:lnTo>
                  <a:pt x="11207813" y="3175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0794" y="161925"/>
            <a:ext cx="2727305" cy="1047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49801" y="2982531"/>
            <a:ext cx="3840479" cy="941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02579" y="3404870"/>
            <a:ext cx="5243195" cy="1837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6169" y="2193226"/>
            <a:ext cx="905383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</a:pPr>
            <a:r>
              <a:rPr lang="en-US" sz="5400" spc="-10" dirty="0">
                <a:latin typeface="Calibri"/>
                <a:cs typeface="Calibri"/>
              </a:rPr>
              <a:t>MVC </a:t>
            </a:r>
            <a:r>
              <a:rPr sz="5400" spc="-10" dirty="0">
                <a:latin typeface="Calibri"/>
                <a:cs typeface="Calibri"/>
              </a:rPr>
              <a:t>Pattern</a:t>
            </a:r>
            <a:endParaRPr sz="5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Object</a:t>
            </a:r>
            <a:r>
              <a:rPr spc="-175" dirty="0"/>
              <a:t> </a:t>
            </a:r>
            <a:r>
              <a:rPr spc="-50" dirty="0"/>
              <a:t>Oriented</a:t>
            </a:r>
            <a:r>
              <a:rPr spc="-200" dirty="0"/>
              <a:t> </a:t>
            </a:r>
            <a:r>
              <a:rPr spc="-35" dirty="0"/>
              <a:t>Software</a:t>
            </a:r>
            <a:r>
              <a:rPr spc="-200" dirty="0"/>
              <a:t> </a:t>
            </a:r>
            <a:r>
              <a:rPr spc="-10" dirty="0"/>
              <a:t>Engineering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pc="-10" dirty="0"/>
          </a:p>
          <a:p>
            <a:pPr marL="1672589" marR="748030" indent="-14604">
              <a:lnSpc>
                <a:spcPct val="115799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Presented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Vinay P</a:t>
            </a:r>
          </a:p>
          <a:p>
            <a:pPr marL="1672589" marR="748030" indent="-14604">
              <a:lnSpc>
                <a:spcPct val="115799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SRN: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PES1PG25CA3</a:t>
            </a:r>
            <a:r>
              <a:rPr lang="en-US" sz="2000" spc="-10" dirty="0">
                <a:latin typeface="Calibri"/>
                <a:cs typeface="Calibri"/>
              </a:rPr>
              <a:t>66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0062" y="1633601"/>
            <a:ext cx="11208385" cy="31750"/>
          </a:xfrm>
          <a:custGeom>
            <a:avLst/>
            <a:gdLst/>
            <a:ahLst/>
            <a:cxnLst/>
            <a:rect l="l" t="t" r="r" b="b"/>
            <a:pathLst>
              <a:path w="11208385" h="31750">
                <a:moveTo>
                  <a:pt x="0" y="0"/>
                </a:moveTo>
                <a:lnTo>
                  <a:pt x="11207813" y="31750"/>
                </a:lnTo>
              </a:path>
            </a:pathLst>
          </a:custGeom>
          <a:ln w="1270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8971" y="285750"/>
            <a:ext cx="2718153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6E4816-12A1-8BF5-5ED1-6D5D4FD2B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11277599" cy="332719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latin typeface="+mn-lt"/>
              </a:rPr>
              <a:t>MVC is a software design pattern that separates an application into three distinct layers:</a:t>
            </a:r>
            <a:br>
              <a:rPr lang="en-US" sz="2800" b="0" dirty="0">
                <a:latin typeface="+mn-lt"/>
              </a:rPr>
            </a:br>
            <a:r>
              <a:rPr lang="en-US" sz="2400" b="0" dirty="0">
                <a:latin typeface="+mn-lt"/>
              </a:rPr>
              <a:t>  </a:t>
            </a:r>
            <a:r>
              <a:rPr lang="en-US" sz="2400" b="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• Model</a:t>
            </a:r>
            <a:br>
              <a:rPr lang="en-US" sz="2400" b="0" dirty="0">
                <a:latin typeface="+mn-lt"/>
              </a:rPr>
            </a:br>
            <a:r>
              <a:rPr lang="en-US" sz="2400" b="0" dirty="0">
                <a:latin typeface="+mn-lt"/>
              </a:rPr>
              <a:t>  </a:t>
            </a:r>
            <a:r>
              <a:rPr lang="en-US" sz="2400" b="0" dirty="0">
                <a:solidFill>
                  <a:schemeClr val="tx2"/>
                </a:solidFill>
                <a:latin typeface="+mn-lt"/>
              </a:rPr>
              <a:t>• View</a:t>
            </a:r>
            <a:br>
              <a:rPr lang="en-US" sz="2400" b="0" dirty="0">
                <a:latin typeface="+mn-lt"/>
              </a:rPr>
            </a:br>
            <a:r>
              <a:rPr lang="en-US" sz="2400" b="0" dirty="0">
                <a:latin typeface="+mn-lt"/>
              </a:rPr>
              <a:t>  • </a:t>
            </a:r>
            <a:r>
              <a:rPr lang="en-US" sz="2400" b="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Controller</a:t>
            </a:r>
            <a:br>
              <a:rPr lang="en-US" sz="1800" b="0" dirty="0">
                <a:latin typeface="+mn-lt"/>
              </a:rPr>
            </a:br>
            <a:endParaRPr lang="en-IN" sz="1800" b="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9C76C-103F-2D78-5392-02F20E32791C}"/>
              </a:ext>
            </a:extLst>
          </p:cNvPr>
          <p:cNvSpPr txBox="1"/>
          <p:nvPr/>
        </p:nvSpPr>
        <p:spPr>
          <a:xfrm>
            <a:off x="533400" y="914400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Model View Controller (MVC)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AD70AF-BC74-D845-CF46-49BF536E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dirty="0"/>
              <a:t> </a:t>
            </a:r>
            <a:endParaRPr lang="en-IN" sz="18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A0EEE-1D37-9CC5-82A8-65D5A6ADFCB1}"/>
              </a:ext>
            </a:extLst>
          </p:cNvPr>
          <p:cNvSpPr txBox="1"/>
          <p:nvPr/>
        </p:nvSpPr>
        <p:spPr>
          <a:xfrm>
            <a:off x="381000" y="1447800"/>
            <a:ext cx="11277599" cy="5193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Model</a:t>
            </a:r>
            <a:r>
              <a:rPr lang="en-US" sz="2800" b="0" dirty="0">
                <a:latin typeface="+mn-lt"/>
              </a:rPr>
              <a:t>: Manages Data and Logic</a:t>
            </a:r>
            <a:br>
              <a:rPr lang="en-US" sz="2800" b="0" dirty="0">
                <a:latin typeface="+mn-lt"/>
              </a:rPr>
            </a:br>
            <a:r>
              <a:rPr lang="en-US" sz="2800" b="0" dirty="0">
                <a:latin typeface="+mn-lt"/>
              </a:rPr>
              <a:t>• Represents application data and business logic.</a:t>
            </a:r>
            <a:br>
              <a:rPr lang="en-US" sz="2800" b="0" dirty="0">
                <a:latin typeface="+mn-lt"/>
              </a:rPr>
            </a:br>
            <a:r>
              <a:rPr lang="en-US" sz="2800" b="0" dirty="0">
                <a:latin typeface="+mn-lt"/>
              </a:rPr>
              <a:t>• Interacts with the database (CRUD operations).</a:t>
            </a:r>
            <a:br>
              <a:rPr lang="en-US" sz="2800" b="0" dirty="0">
                <a:latin typeface="+mn-lt"/>
              </a:rPr>
            </a:br>
            <a:br>
              <a:rPr lang="en-US" sz="2800" b="0" dirty="0">
                <a:latin typeface="+mn-lt"/>
              </a:rPr>
            </a:br>
            <a:r>
              <a:rPr lang="en-US" sz="2800" b="1" dirty="0">
                <a:latin typeface="+mn-lt"/>
              </a:rPr>
              <a:t>View</a:t>
            </a:r>
            <a:r>
              <a:rPr lang="en-US" sz="2800" b="0" dirty="0">
                <a:latin typeface="+mn-lt"/>
              </a:rPr>
              <a:t>: Handles User Interface</a:t>
            </a:r>
            <a:br>
              <a:rPr lang="en-US" sz="2800" b="0" dirty="0">
                <a:latin typeface="+mn-lt"/>
              </a:rPr>
            </a:br>
            <a:r>
              <a:rPr lang="en-US" sz="2800" b="0" dirty="0">
                <a:latin typeface="+mn-lt"/>
              </a:rPr>
              <a:t>• Displays data to the user.</a:t>
            </a:r>
            <a:br>
              <a:rPr lang="en-US" sz="2800" b="0" dirty="0">
                <a:latin typeface="+mn-lt"/>
              </a:rPr>
            </a:br>
            <a:r>
              <a:rPr lang="en-US" sz="2800" b="0" dirty="0">
                <a:latin typeface="+mn-lt"/>
              </a:rPr>
              <a:t>• Responsible for rendering the presentation using HTML, CSS, and JavaScript.</a:t>
            </a: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0794" y="161925"/>
            <a:ext cx="2727305" cy="1047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1487" y="607377"/>
            <a:ext cx="112464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8470" algn="l"/>
                <a:tab pos="11233150" algn="l"/>
              </a:tabLst>
            </a:pPr>
            <a:r>
              <a:rPr lang="en-IN" sz="4400" u="heavy" dirty="0">
                <a:uFill>
                  <a:solidFill>
                    <a:srgbClr val="E97031"/>
                  </a:solidFill>
                </a:uFill>
                <a:latin typeface="Trebuchet MS"/>
                <a:cs typeface="Trebuchet MS"/>
              </a:rPr>
              <a:t>	</a:t>
            </a:r>
            <a:r>
              <a:rPr sz="4400" u="heavy" dirty="0">
                <a:uFill>
                  <a:solidFill>
                    <a:srgbClr val="E97031"/>
                  </a:solidFill>
                </a:uFill>
                <a:latin typeface="Trebuchet MS"/>
                <a:cs typeface="Trebuchet MS"/>
              </a:rPr>
              <a:t>	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424E9-4921-9534-38F5-3837B49C0007}"/>
              </a:ext>
            </a:extLst>
          </p:cNvPr>
          <p:cNvSpPr txBox="1"/>
          <p:nvPr/>
        </p:nvSpPr>
        <p:spPr>
          <a:xfrm>
            <a:off x="481973" y="1524000"/>
            <a:ext cx="11506199" cy="389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Controller</a:t>
            </a:r>
            <a:r>
              <a:rPr lang="en-US" sz="2800" b="0" dirty="0">
                <a:latin typeface="+mn-lt"/>
              </a:rPr>
              <a:t>: The Mediator</a:t>
            </a:r>
            <a:br>
              <a:rPr lang="en-US" sz="2800" b="0" dirty="0">
                <a:latin typeface="+mn-lt"/>
              </a:rPr>
            </a:br>
            <a:r>
              <a:rPr lang="en-US" sz="2800" b="0" dirty="0">
                <a:latin typeface="+mn-lt"/>
              </a:rPr>
              <a:t>• Acts as an intermediary between Model and View.</a:t>
            </a:r>
            <a:br>
              <a:rPr lang="en-US" sz="2800" b="0" dirty="0">
                <a:latin typeface="+mn-lt"/>
              </a:rPr>
            </a:br>
            <a:r>
              <a:rPr lang="en-US" sz="2800" b="0" dirty="0">
                <a:latin typeface="+mn-lt"/>
              </a:rPr>
              <a:t>• Handles user input.</a:t>
            </a:r>
            <a:br>
              <a:rPr lang="en-US" sz="2800" b="0" dirty="0">
                <a:latin typeface="+mn-lt"/>
              </a:rPr>
            </a:br>
            <a:r>
              <a:rPr lang="en-US" sz="2800" b="0" dirty="0">
                <a:latin typeface="+mn-lt"/>
              </a:rPr>
              <a:t>• Interacts with Model to fetch or update data.</a:t>
            </a:r>
            <a:br>
              <a:rPr lang="en-US" sz="2800" b="0" dirty="0">
                <a:latin typeface="+mn-lt"/>
              </a:rPr>
            </a:br>
            <a:r>
              <a:rPr lang="en-US" sz="2800" b="0" dirty="0">
                <a:latin typeface="+mn-lt"/>
              </a:rPr>
              <a:t>• Passes data to View for display.</a:t>
            </a:r>
            <a:br>
              <a:rPr lang="en-US" sz="2800" b="0" dirty="0">
                <a:latin typeface="+mn-lt"/>
              </a:rPr>
            </a:b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F9F949-BE89-E8EB-BA60-898DD6B9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71600"/>
            <a:ext cx="11582401" cy="57770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/>
              <a:t>Model (Warehouse)</a:t>
            </a:r>
            <a:br>
              <a:rPr lang="en-IN" sz="1400" b="0" dirty="0"/>
            </a:br>
            <a:r>
              <a:rPr lang="en-US" sz="1400" b="0" dirty="0"/>
              <a:t>• The Model represents the data and the logic to handle it. Think of it as the warehouse where all the goods (data) are stored.</a:t>
            </a:r>
            <a:br>
              <a:rPr lang="en-IN" sz="1400" b="0" dirty="0"/>
            </a:br>
            <a:r>
              <a:rPr lang="en-US" sz="1400" b="0" dirty="0"/>
              <a:t>• It is responsible for managing and updating data. For example:</a:t>
            </a:r>
            <a:br>
              <a:rPr lang="en-IN" sz="1400" b="0" dirty="0"/>
            </a:br>
            <a:r>
              <a:rPr lang="en-US" sz="1400" b="0" dirty="0"/>
              <a:t>  • What items are available?</a:t>
            </a:r>
            <a:br>
              <a:rPr lang="en-IN" sz="1400" b="0" dirty="0"/>
            </a:br>
            <a:r>
              <a:rPr lang="en-US" sz="1400" b="0" dirty="0"/>
              <a:t>  • What is the stock quantity?</a:t>
            </a:r>
            <a:br>
              <a:rPr lang="en-IN" sz="1400" b="0" dirty="0"/>
            </a:br>
            <a:r>
              <a:rPr lang="en-US" sz="1400" b="0" dirty="0"/>
              <a:t>  • Adding or removing items based on demand.</a:t>
            </a:r>
            <a:br>
              <a:rPr lang="en-US" sz="1400" b="0" dirty="0"/>
            </a:br>
            <a:br>
              <a:rPr lang="en-IN" sz="1400" b="0" dirty="0"/>
            </a:br>
            <a:r>
              <a:rPr lang="en-US" sz="1400" dirty="0"/>
              <a:t>View (Shop or Customer)</a:t>
            </a:r>
            <a:br>
              <a:rPr lang="en-IN" sz="1400" b="0" dirty="0"/>
            </a:br>
            <a:r>
              <a:rPr lang="en-US" sz="1400" b="0" dirty="0"/>
              <a:t>• The View is the final interface where the customer (end-user) interacts.</a:t>
            </a:r>
            <a:br>
              <a:rPr lang="en-IN" sz="1400" b="0" dirty="0"/>
            </a:br>
            <a:r>
              <a:rPr lang="en-US" sz="1400" b="0" dirty="0"/>
              <a:t>• It could be the shop displaying the products (HTML/CSS) or the person who sees the delivered product.</a:t>
            </a:r>
            <a:br>
              <a:rPr lang="en-IN" sz="1400" b="0" dirty="0"/>
            </a:br>
            <a:r>
              <a:rPr lang="en-US" sz="1400" b="0" dirty="0"/>
              <a:t>• The View only presents data and does not process logic.</a:t>
            </a:r>
            <a:br>
              <a:rPr lang="en-US" sz="1400" b="0" dirty="0"/>
            </a:br>
            <a:br>
              <a:rPr lang="en-IN" sz="1400" b="0" dirty="0"/>
            </a:br>
            <a:r>
              <a:rPr lang="en-US" sz="1400" dirty="0"/>
              <a:t>Controller (Delivery Person)</a:t>
            </a:r>
            <a:br>
              <a:rPr lang="en-IN" sz="1400" b="0" dirty="0"/>
            </a:br>
            <a:r>
              <a:rPr lang="en-US" sz="1400" b="0" dirty="0"/>
              <a:t>• The Controller acts as the middleman or mediator.</a:t>
            </a:r>
            <a:br>
              <a:rPr lang="en-IN" sz="1400" b="0" dirty="0"/>
            </a:br>
            <a:r>
              <a:rPr lang="en-US" sz="1400" b="0" dirty="0"/>
              <a:t>• Gets the order from the customer (View).</a:t>
            </a:r>
            <a:br>
              <a:rPr lang="en-IN" sz="1400" b="0" dirty="0"/>
            </a:br>
            <a:r>
              <a:rPr lang="en-US" sz="1400" b="0" dirty="0"/>
              <a:t>• Fetches the required data from the warehouse (Model).</a:t>
            </a:r>
            <a:br>
              <a:rPr lang="en-IN" sz="1400" b="0" dirty="0"/>
            </a:br>
            <a:r>
              <a:rPr lang="en-US" sz="1400" b="0" dirty="0"/>
              <a:t>• Delivers the result back to the customer (View).</a:t>
            </a:r>
            <a:br>
              <a:rPr lang="en-IN" sz="1400" b="0" dirty="0"/>
            </a:br>
            <a:endParaRPr lang="en-IN" sz="1400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B01AD-3589-DC40-4753-46D614307183}"/>
              </a:ext>
            </a:extLst>
          </p:cNvPr>
          <p:cNvSpPr txBox="1"/>
          <p:nvPr/>
        </p:nvSpPr>
        <p:spPr>
          <a:xfrm>
            <a:off x="428537" y="762000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+mn-lt"/>
              </a:rPr>
              <a:t>MVC Analogy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24543D-89B3-0F51-AEF0-111F5774AF0D}"/>
              </a:ext>
            </a:extLst>
          </p:cNvPr>
          <p:cNvSpPr txBox="1"/>
          <p:nvPr/>
        </p:nvSpPr>
        <p:spPr>
          <a:xfrm>
            <a:off x="381000" y="838200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+mn-lt"/>
              </a:rPr>
              <a:t>MVC Application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028977-53BA-5018-B70B-64DC69DB1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6" t="8334" r="19166" b="10411"/>
          <a:stretch>
            <a:fillRect/>
          </a:stretch>
        </p:blipFill>
        <p:spPr>
          <a:xfrm>
            <a:off x="457200" y="2438400"/>
            <a:ext cx="5139877" cy="37150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45802D-C5A5-7A93-CE45-C6A57D298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40" b="14863"/>
          <a:stretch>
            <a:fillRect/>
          </a:stretch>
        </p:blipFill>
        <p:spPr>
          <a:xfrm>
            <a:off x="7086600" y="2494110"/>
            <a:ext cx="4419600" cy="366491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BE9B53B8-D871-71C4-97BD-9610012F0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038" y="1749893"/>
            <a:ext cx="2362200" cy="307777"/>
          </a:xfrm>
        </p:spPr>
        <p:txBody>
          <a:bodyPr/>
          <a:lstStyle/>
          <a:p>
            <a:r>
              <a:rPr lang="en-US" sz="2000" dirty="0">
                <a:solidFill>
                  <a:schemeClr val="accent6"/>
                </a:solidFill>
                <a:latin typeface="+mn-lt"/>
              </a:rPr>
              <a:t>Model, Controller</a:t>
            </a:r>
            <a:endParaRPr lang="en-IN" sz="2000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8202398A-8E82-5A2F-1F1A-95026CDD3349}"/>
              </a:ext>
            </a:extLst>
          </p:cNvPr>
          <p:cNvSpPr txBox="1">
            <a:spLocks/>
          </p:cNvSpPr>
          <p:nvPr/>
        </p:nvSpPr>
        <p:spPr>
          <a:xfrm>
            <a:off x="9067800" y="1734818"/>
            <a:ext cx="762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2000" dirty="0">
                <a:solidFill>
                  <a:schemeClr val="tx2"/>
                </a:solidFill>
                <a:latin typeface="+mn-lt"/>
              </a:rPr>
              <a:t>View</a:t>
            </a:r>
            <a:endParaRPr lang="en-IN" sz="2000" dirty="0">
              <a:solidFill>
                <a:schemeClr val="tx2"/>
              </a:solidFill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112948E-0CC3-D46E-8852-BF04A4558DC5}"/>
                  </a:ext>
                </a:extLst>
              </p14:cNvPr>
              <p14:cNvContentPartPr/>
              <p14:nvPr/>
            </p14:nvContentPartPr>
            <p14:xfrm>
              <a:off x="813422" y="2726052"/>
              <a:ext cx="1838160" cy="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112948E-0CC3-D46E-8852-BF04A4558D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422" y="2690052"/>
                <a:ext cx="1873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7488D3E-8D51-1D71-52AC-B72ABEA8A79E}"/>
                  </a:ext>
                </a:extLst>
              </p14:cNvPr>
              <p14:cNvContentPartPr/>
              <p14:nvPr/>
            </p14:nvContentPartPr>
            <p14:xfrm>
              <a:off x="2650502" y="2751252"/>
              <a:ext cx="720" cy="873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7488D3E-8D51-1D71-52AC-B72ABEA8A7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5222" y="2733252"/>
                <a:ext cx="72000" cy="90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7D1F7E8-0EE6-D3C5-5ACF-18F476D52CD4}"/>
                  </a:ext>
                </a:extLst>
              </p14:cNvPr>
              <p14:cNvContentPartPr/>
              <p14:nvPr/>
            </p14:nvContentPartPr>
            <p14:xfrm>
              <a:off x="714422" y="2726052"/>
              <a:ext cx="124560" cy="9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7D1F7E8-0EE6-D3C5-5ACF-18F476D52CD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6422" y="2708412"/>
                <a:ext cx="1602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1140124-E336-AF6C-EB88-F88A05464AA5}"/>
                  </a:ext>
                </a:extLst>
              </p14:cNvPr>
              <p14:cNvContentPartPr/>
              <p14:nvPr/>
            </p14:nvContentPartPr>
            <p14:xfrm>
              <a:off x="704702" y="2742972"/>
              <a:ext cx="67320" cy="789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1140124-E336-AF6C-EB88-F88A05464A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6702" y="2724972"/>
                <a:ext cx="102960" cy="82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FA7F160-9E5D-2506-4966-2819DB2C8AE8}"/>
                  </a:ext>
                </a:extLst>
              </p14:cNvPr>
              <p14:cNvContentPartPr/>
              <p14:nvPr/>
            </p14:nvContentPartPr>
            <p14:xfrm>
              <a:off x="771302" y="3556932"/>
              <a:ext cx="1881360" cy="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FA7F160-9E5D-2506-4966-2819DB2C8AE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3662" y="3520932"/>
                <a:ext cx="1917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55C6FED-D939-F894-1B95-869476B6925C}"/>
                  </a:ext>
                </a:extLst>
              </p14:cNvPr>
              <p14:cNvContentPartPr/>
              <p14:nvPr/>
            </p14:nvContentPartPr>
            <p14:xfrm>
              <a:off x="796862" y="3824772"/>
              <a:ext cx="1879560" cy="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55C6FED-D939-F894-1B95-869476B692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9222" y="3788772"/>
                <a:ext cx="19152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99E625B-1F41-04CF-EEA1-6A5CD70E48ED}"/>
                  </a:ext>
                </a:extLst>
              </p14:cNvPr>
              <p14:cNvContentPartPr/>
              <p14:nvPr/>
            </p14:nvContentPartPr>
            <p14:xfrm>
              <a:off x="763382" y="3816492"/>
              <a:ext cx="25200" cy="813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99E625B-1F41-04CF-EEA1-6A5CD70E48E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5382" y="3798852"/>
                <a:ext cx="60840" cy="84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F5C0318-7400-4D41-3A09-EEE4DADC0D40}"/>
                  </a:ext>
                </a:extLst>
              </p14:cNvPr>
              <p14:cNvContentPartPr/>
              <p14:nvPr/>
            </p14:nvContentPartPr>
            <p14:xfrm>
              <a:off x="796862" y="4663932"/>
              <a:ext cx="1904760" cy="7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F5C0318-7400-4D41-3A09-EEE4DADC0D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9222" y="4627932"/>
                <a:ext cx="1940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8C5F1AC-9201-E224-DACF-09C28E56D683}"/>
                  </a:ext>
                </a:extLst>
              </p14:cNvPr>
              <p14:cNvContentPartPr/>
              <p14:nvPr/>
            </p14:nvContentPartPr>
            <p14:xfrm>
              <a:off x="2684342" y="3858612"/>
              <a:ext cx="8640" cy="8056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8C5F1AC-9201-E224-DACF-09C28E56D6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66342" y="3840612"/>
                <a:ext cx="44280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9AFD6F4-7DA4-E3E3-F010-2BEC65B0AFCD}"/>
                  </a:ext>
                </a:extLst>
              </p14:cNvPr>
              <p14:cNvContentPartPr/>
              <p14:nvPr/>
            </p14:nvContentPartPr>
            <p14:xfrm>
              <a:off x="7381982" y="3858612"/>
              <a:ext cx="25560" cy="5374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9AFD6F4-7DA4-E3E3-F010-2BEC65B0AFC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63982" y="3840612"/>
                <a:ext cx="6120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58F78D4-BC2B-5ED7-3A79-A1B1D08D2A2F}"/>
                  </a:ext>
                </a:extLst>
              </p14:cNvPr>
              <p14:cNvContentPartPr/>
              <p14:nvPr/>
            </p14:nvContentPartPr>
            <p14:xfrm>
              <a:off x="7381982" y="3824772"/>
              <a:ext cx="1200240" cy="17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58F78D4-BC2B-5ED7-3A79-A1B1D08D2A2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63982" y="3807132"/>
                <a:ext cx="12358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61412FB-98C3-C0C1-7103-788E60B9CCB6}"/>
                  </a:ext>
                </a:extLst>
              </p14:cNvPr>
              <p14:cNvContentPartPr/>
              <p14:nvPr/>
            </p14:nvContentPartPr>
            <p14:xfrm>
              <a:off x="8581502" y="3833412"/>
              <a:ext cx="17280" cy="5875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61412FB-98C3-C0C1-7103-788E60B9CCB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563862" y="3815772"/>
                <a:ext cx="52920" cy="6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1B7C32E-8FD1-375A-7D85-4AE112DCD577}"/>
                  </a:ext>
                </a:extLst>
              </p14:cNvPr>
              <p14:cNvContentPartPr/>
              <p14:nvPr/>
            </p14:nvContentPartPr>
            <p14:xfrm>
              <a:off x="7407182" y="4437852"/>
              <a:ext cx="1208880" cy="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1B7C32E-8FD1-375A-7D85-4AE112DCD57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89182" y="4401852"/>
                <a:ext cx="124452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0136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3058C4-198A-4F09-CA08-AB0209E2C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624137"/>
            <a:ext cx="47148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22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350</Words>
  <Application>Microsoft Office PowerPoint</Application>
  <PresentationFormat>Widescreen</PresentationFormat>
  <Paragraphs>18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Cambria</vt:lpstr>
      <vt:lpstr>Trebuchet MS</vt:lpstr>
      <vt:lpstr>Office Theme</vt:lpstr>
      <vt:lpstr>MVC Pattern</vt:lpstr>
      <vt:lpstr>MVC is a software design pattern that separates an application into three distinct layers:   • Model   • View   • Controller </vt:lpstr>
      <vt:lpstr> </vt:lpstr>
      <vt:lpstr>  </vt:lpstr>
      <vt:lpstr>Model (Warehouse) • The Model represents the data and the logic to handle it. Think of it as the warehouse where all the goods (data) are stored. • It is responsible for managing and updating data. For example:   • What items are available?   • What is the stock quantity?   • Adding or removing items based on demand.  View (Shop or Customer) • The View is the final interface where the customer (end-user) interacts. • It could be the shop displaying the products (HTML/CSS) or the person who sees the delivered product. • The View only presents data and does not process logic.  Controller (Delivery Person) • The Controller acts as the middleman or mediator. • Gets the order from the customer (View). • Fetches the required data from the warehouse (Model). • Delivers the result back to the customer (View). </vt:lpstr>
      <vt:lpstr>Model, Controller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Vinay P</dc:creator>
  <cp:lastModifiedBy>Vinay P</cp:lastModifiedBy>
  <cp:revision>3</cp:revision>
  <dcterms:created xsi:type="dcterms:W3CDTF">2026-01-05T12:40:34Z</dcterms:created>
  <dcterms:modified xsi:type="dcterms:W3CDTF">2026-01-24T15:49:17Z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2026-01-04T00:00:00Z</vt:filetime>
  </property>
  <property fmtid="{D5CDD505-2E9C-101B-9397-08002B2CF9AE}" pid="3" name="LastSaved">
    <vt:filetime>2026-01-05T00:00:00Z</vt:filetime>
  </property>
</Properties>
</file>